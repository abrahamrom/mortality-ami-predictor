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Montserrat SemiBold"/>
      <p:regular r:id="rId22"/>
      <p:bold r:id="rId23"/>
      <p:italic r:id="rId24"/>
      <p:boldItalic r:id="rId25"/>
    </p:embeddedFont>
    <p:embeddedFont>
      <p:font typeface="Roboto Medium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Roboto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CF7664-82E5-4CC1-B12D-01F4A422728A}">
  <a:tblStyle styleId="{0BCF7664-82E5-4CC1-B12D-01F4A422728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miBold-italic.fntdata"/><Relationship Id="rId20" Type="http://schemas.openxmlformats.org/officeDocument/2006/relationships/slide" Target="slides/slide14.xml"/><Relationship Id="rId41" Type="http://schemas.openxmlformats.org/officeDocument/2006/relationships/font" Target="fonts/RobotoSemiBold-boldItalic.fntdata"/><Relationship Id="rId22" Type="http://schemas.openxmlformats.org/officeDocument/2006/relationships/font" Target="fonts/Montserrat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edium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RobotoMedium-italic.fntdata"/><Relationship Id="rId27" Type="http://schemas.openxmlformats.org/officeDocument/2006/relationships/font" Target="fonts/Roboto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-bold.fntdata"/><Relationship Id="rId12" Type="http://schemas.openxmlformats.org/officeDocument/2006/relationships/slide" Target="slides/slide6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39" Type="http://schemas.openxmlformats.org/officeDocument/2006/relationships/font" Target="fonts/RobotoSemiBold-bold.fntdata"/><Relationship Id="rId16" Type="http://schemas.openxmlformats.org/officeDocument/2006/relationships/slide" Target="slides/slide10.xml"/><Relationship Id="rId38" Type="http://schemas.openxmlformats.org/officeDocument/2006/relationships/font" Target="fonts/Roboto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09551"/>
            <a:ext cx="8572500" cy="40388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54893" y="2183606"/>
            <a:ext cx="77009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Roboto Medium"/>
                <a:ea typeface="Roboto Medium"/>
                <a:cs typeface="Roboto Medium"/>
                <a:sym typeface="Roboto Medium"/>
              </a:rPr>
              <a:t>Informe de Investigación - RECUIMA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54893" y="2459831"/>
            <a:ext cx="77010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Predicción de Mortalidad Intrahospitalaria en IAM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38250" y="3930253"/>
            <a:ext cx="7334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D47A1"/>
                </a:solidFill>
                <a:latin typeface="Roboto"/>
                <a:ea typeface="Roboto"/>
                <a:cs typeface="Roboto"/>
                <a:sym typeface="Roboto"/>
              </a:rPr>
              <a:t>Aplicación de Machine Learning en el Registro Cubano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3662" y="4581673"/>
            <a:ext cx="9429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9512" y="4581673"/>
            <a:ext cx="22955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7912" y="4581673"/>
            <a:ext cx="101917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Contexto y Motivación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010370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El Infarto Agudo de Miocardio (IAM) es una de las principales causas de mortalidad cardiovascular. La predicción temprana es crítica para optimizar recursos.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85825" y="3169205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16825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Estado Actual: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Uso de escalas tradicionales como GRACE y TIMI.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85825" y="3953827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52500" y="3952875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El Problema: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Estas escalas asumen linealidad y pierden interacciones complejas entre variables.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85825" y="4738449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52500" y="4737496"/>
            <a:ext cx="4905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La Solución: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Machine Learning puede capturar relaciones no lineales y mejorar la estratificación de riesgo.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46015"/>
            <a:ext cx="3492549" cy="2613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646015"/>
            <a:ext cx="3492549" cy="2613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646015"/>
            <a:ext cx="3492549" cy="26135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Objetivos del Proyecto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94225" y="357946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Desarrollar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399856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Implementar modelos de ML usando datos del registro RECUIMA (3,112 pacientes).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572524" y="357946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Superar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45074" y="3998565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Mejorar la capacidad predictiva (AUROC) comparado con la escala GRACE (0.820).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50824" y="357946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Explicar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423374" y="3998565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Utilizar valores SHAP para garantizar interpretabilidad clínica y confianza.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1012" y="296034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0" y="29603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83799" y="296034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Datos: Registro Cubano de IAM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16192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Análisis retrospectivo del registro RECUIMA (2020-2025)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899844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8909C"/>
                </a:solidFill>
                <a:latin typeface="Roboto"/>
                <a:ea typeface="Roboto"/>
                <a:cs typeface="Roboto"/>
                <a:sym typeface="Roboto"/>
              </a:rPr>
              <a:t>*Se aplicaron técnicas de imputación y manejo de desbalance de clases.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3317527"/>
            <a:ext cx="3683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976D2"/>
                </a:solidFill>
                <a:latin typeface="Montserrat"/>
                <a:ea typeface="Montserrat"/>
                <a:cs typeface="Montserrat"/>
                <a:sym typeface="Montserrat"/>
              </a:rPr>
              <a:t>3.112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4270027"/>
            <a:ext cx="36830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Roboto Medium"/>
                <a:ea typeface="Roboto Medium"/>
                <a:cs typeface="Roboto Medium"/>
                <a:sym typeface="Roboto Medium"/>
              </a:rPr>
              <a:t>Pacientes Totales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254549" y="3317527"/>
            <a:ext cx="3683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D32F2F"/>
                </a:solidFill>
                <a:latin typeface="Montserrat"/>
                <a:ea typeface="Montserrat"/>
                <a:cs typeface="Montserrat"/>
                <a:sym typeface="Montserrat"/>
              </a:rPr>
              <a:t>8,8%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254549" y="4270027"/>
            <a:ext cx="36830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Roboto Medium"/>
                <a:ea typeface="Roboto Medium"/>
                <a:cs typeface="Roboto Medium"/>
                <a:sym typeface="Roboto Medium"/>
              </a:rPr>
              <a:t>Mortalidad (Desbalance)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937599" y="3317527"/>
            <a:ext cx="36830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1976D2"/>
                </a:solidFill>
                <a:latin typeface="Montserrat"/>
                <a:ea typeface="Montserrat"/>
                <a:cs typeface="Montserrat"/>
                <a:sym typeface="Montserrat"/>
              </a:rPr>
              <a:t>57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937599" y="4270027"/>
            <a:ext cx="36830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46E7A"/>
                </a:solidFill>
                <a:latin typeface="Roboto Medium"/>
                <a:ea typeface="Roboto Medium"/>
                <a:cs typeface="Roboto Medium"/>
                <a:sym typeface="Roboto Medium"/>
              </a:rPr>
              <a:t>Variables Finales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571500" y="1250156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Flujo de Trabajo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952500" y="2278856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Preprocesamiento: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Limpieza, imputación de nulos, codificación.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52500" y="3063478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Balanceo: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Class weights para manejar la mortalidad del 8.8%.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52500" y="3848100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19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Modelado: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Regresión Logística, Random Forest, XGBoost, LightGBM.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4632721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Validación: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Validación cruzada estratificada y Bootstrap (1000 iteraciones).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3312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11586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9004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685109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Análisis Exploratorio (Highlights)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2178843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Factores Críticos Identificados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2397918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El análisis univariado reveló diferencias significativas entre supervivientes y fallecidos en variables clave: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885825" y="3221593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52500" y="322064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Edad: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Marcada asimetría, mayor riesgo &gt;75 años.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85825" y="3671054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52500" y="367010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Clase Killip: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Fuerte correlación de clases III-IV con mortalidad.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85825" y="4455675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52500" y="445472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Función Renal: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Creatinina elevada como fuerte predictor.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85825" y="5240297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2500" y="5239345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Hemodinamia: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Hipotensión y taquicardia (Shock).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Comparación de Algoritmos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205204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XGBoost demostró el mejor rendimiento general, superando significativamente al baseline (Regresión Logística).</a:t>
            </a:r>
            <a:endParaRPr/>
          </a:p>
        </p:txBody>
      </p:sp>
      <p:graphicFrame>
        <p:nvGraphicFramePr>
          <p:cNvPr id="178" name="Google Shape;178;p19"/>
          <p:cNvGraphicFramePr/>
          <p:nvPr/>
        </p:nvGraphicFramePr>
        <p:xfrm>
          <a:off x="571500" y="27205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{0BCF7664-82E5-4CC1-B12D-01F4A422728A}</a:tableStyleId>
              </a:tblPr>
              <a:tblGrid>
                <a:gridCol w="4867425"/>
                <a:gridCol w="1537850"/>
                <a:gridCol w="2254450"/>
                <a:gridCol w="2389275"/>
              </a:tblGrid>
              <a:tr h="6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Modelo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AUROC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Sensibilidad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Roboto SemiBold"/>
                          <a:ea typeface="Roboto SemiBold"/>
                          <a:cs typeface="Roboto SemiBold"/>
                          <a:sym typeface="Roboto SemiBold"/>
                        </a:rPr>
                        <a:t>Especificidad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47A1"/>
                    </a:solidFill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Regresión Logística (Baseline)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0.854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0.673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0.869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0.882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D47A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 (Optimizado)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D47A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0.938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D47A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D47A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LightGBM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0.650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7474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19"/>
          <p:cNvSpPr/>
          <p:nvPr/>
        </p:nvSpPr>
        <p:spPr>
          <a:xfrm>
            <a:off x="571500" y="3957637"/>
            <a:ext cx="486742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438923" y="3957637"/>
            <a:ext cx="153784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976764" y="3957637"/>
            <a:ext cx="225444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9231213" y="3957637"/>
            <a:ext cx="238928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" y="4588073"/>
            <a:ext cx="486742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438923" y="4588073"/>
            <a:ext cx="153784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976764" y="4588073"/>
            <a:ext cx="225444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9231213" y="4588073"/>
            <a:ext cx="238928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71500" y="5218509"/>
            <a:ext cx="486742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438923" y="5218509"/>
            <a:ext cx="153784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976764" y="5218509"/>
            <a:ext cx="225444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9231213" y="5218509"/>
            <a:ext cx="238928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19250"/>
            <a:ext cx="5286375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19250"/>
            <a:ext cx="528637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Estrategia: Dos Enfoques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76300" y="1924050"/>
            <a:ext cx="49106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546E7A"/>
                </a:solidFill>
                <a:latin typeface="Montserrat"/>
                <a:ea typeface="Montserrat"/>
                <a:cs typeface="Montserrat"/>
                <a:sym typeface="Montserrat"/>
              </a:rPr>
              <a:t>1. Modelo Reducido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76300" y="2333625"/>
            <a:ext cx="46767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Objetivo: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Comparación directa con GRACE.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638925" y="1924050"/>
            <a:ext cx="49106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2. Modelo Extendido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638925" y="2333625"/>
            <a:ext cx="46767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Objetivo: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Máximo rendimiento predictivo.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190625" y="2822138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257300" y="2821185"/>
            <a:ext cx="42957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Solo </a:t>
            </a: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10 variables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190625" y="3271599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257300" y="3270646"/>
            <a:ext cx="42957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Variables: Edad, FEVI, TFG, PAS, PAD, FC, Creatinina, Glucemia, DM, Betabloqueadores.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190625" y="4056221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257300" y="4055268"/>
            <a:ext cx="42957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AUROC: </a:t>
            </a: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0.901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953250" y="2822138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7019925" y="2821185"/>
            <a:ext cx="42957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Total de </a:t>
            </a: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57 variables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953250" y="3271599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7019925" y="3270646"/>
            <a:ext cx="42957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Incluye biomarcadores, antecedentes detallados y tratamientos.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953250" y="4056221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019925" y="4055268"/>
            <a:ext cx="42957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AUROC: </a:t>
            </a: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0.938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Rendimiento Discriminativo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2415778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Superioridad sobre GRACE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2634853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Ambos modelos desarrollados superan significativamente a la escala GRACE tradicional.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71500" y="507265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Mejora de +11.8 puntos porcentuales.</a:t>
            </a:r>
            <a:endParaRPr/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809625" y="3590925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XGBoost Extendido: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0.938 AUROC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09625" y="4068960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XGBoost Reducido: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0.901 AUROC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09625" y="4546996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78909C"/>
                </a:solidFill>
                <a:latin typeface="Roboto"/>
                <a:ea typeface="Roboto"/>
                <a:cs typeface="Roboto"/>
                <a:sym typeface="Roboto"/>
              </a:rPr>
              <a:t>Escala GRACE (Benchmark): 0.820 AUROC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19250"/>
            <a:ext cx="11049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Validación de Robustez (Sin Fuga de Datos)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2068413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Prueba de Integridad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2287488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Se entrenó un modelo excluyendo variables potencialmente contaminadas (aminas, complicaciones post-ingreso) para asegurar que la predicción es válida al momento del ingreso.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85825" y="3781484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952500" y="378053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Resultado: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AUROC de 0.896.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85825" y="4230945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952500" y="422999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Conclusión: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El rendimiento NO depende de variables sesgadas.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85825" y="5015567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952500" y="5014614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Top Predictores: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Edad, FEVI, Glucemia, Killip (Todos legítimos).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Explicabilidad Global (SHAP)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6334125" y="2346424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Factores de Riesgo Principales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334125" y="2565499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El modelo identifica patrones fisiopatológicos coherentes: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543675" y="3389173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715125" y="338822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Fracción de Eyección: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Baja FEVI aumenta drásticamente el riesgo.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543675" y="4173795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715125" y="417284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Edad: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Efecto no lineal, crítico &gt;75 años.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543675" y="4623256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715125" y="4622303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Filtrado Glomerular: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Síndrome cardiorrenal.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6543675" y="5072717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715125" y="5071764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Presión Diastólica: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Valores bajos indican shock.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19250"/>
            <a:ext cx="11049000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13832"/>
            <a:ext cx="5286375" cy="229314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Explicabilidad Local (Paciente Individual)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571500" y="2098774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¿Por qué este paciente es de alto riesgo?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571500" y="231784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Los gráficos de cascada (Waterfall plots) permiten explicar la predicción a nivel individual, facilitando la confianza clínica.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762000" y="370433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Ejemplo: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Paciente con predicción 85%.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762000" y="4182367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+30% por Edad 82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762000" y="4660403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+20% por Creatinina 2.1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762000" y="513843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-5% por Uso de Betabloqueadores</a:t>
            </a:r>
            <a:endParaRPr/>
          </a:p>
        </p:txBody>
      </p:sp>
      <p:pic>
        <p:nvPicPr>
          <p:cNvPr descr="image.png" id="276" name="Google Shape;27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239517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717553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195589"/>
            <a:ext cx="1619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Análisis de Utilidad Clínica</a:t>
            </a:r>
            <a:endParaRPr/>
          </a:p>
        </p:txBody>
      </p:sp>
      <p:sp>
        <p:nvSpPr>
          <p:cNvPr id="285" name="Google Shape;285;p2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571500" y="2628304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Curva de Decisión (DCA)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571500" y="2847379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Evaluamos el beneficio neto del modelo frente a las estrategias de "tratar a todos" o "tratar a ninguno".</a:t>
            </a:r>
            <a:endParaRPr/>
          </a:p>
        </p:txBody>
      </p:sp>
      <p:pic>
        <p:nvPicPr>
          <p:cNvPr descr="image.png" id="288" name="Google Shape;2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885825" y="3671054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952500" y="367010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Rango Útil: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El modelo aporta beneficio neto positivo en umbrales de probabilidad del 5% al 30%.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885825" y="4455675"/>
            <a:ext cx="666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952500" y="445472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VPN Alto: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0.969 (Modelo Reducido), ideal para descartar riesgo y optimizar altas.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D47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981075" y="2590204"/>
            <a:ext cx="106394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Superioridad Técnica: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Los modelos XGBoost (AUROC 0.938) superan significativamente a las escalas tradicionales como GRACE en la población cubana.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981075" y="3498651"/>
            <a:ext cx="106394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Interpretabilidad: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El uso de SHAP valida que el modelo utiliza criterios fisiopatológicos coherentes (Edad, FEVI, Riñón).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1019175" y="4407098"/>
            <a:ext cx="106013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Aplicabilidad:</a:t>
            </a:r>
            <a:r>
              <a:rPr b="0" i="0" lang="en-US" sz="165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 El modelo es robusto (sin fuga de datos) y útil para optimizar recursos y estratificar pacientes en urgencias.</a:t>
            </a:r>
            <a:endParaRPr/>
          </a:p>
        </p:txBody>
      </p:sp>
      <p:pic>
        <p:nvPicPr>
          <p:cNvPr descr="image.png" id="302" name="Google Shape;3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3306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415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49960"/>
            <a:ext cx="3048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/>
        </p:nvSpPr>
        <p:spPr>
          <a:xfrm>
            <a:off x="295275" y="173265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D47A1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571500" y="3028057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46E7A"/>
                </a:solidFill>
                <a:latin typeface="Roboto"/>
                <a:ea typeface="Roboto"/>
                <a:cs typeface="Roboto"/>
                <a:sym typeface="Roboto"/>
              </a:rPr>
              <a:t>Muchas gracias por su atención.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571500" y="422999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Equipo 7 | Curso de Machine Learning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571500" y="467766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74F"/>
                </a:solidFill>
                <a:latin typeface="Roboto"/>
                <a:ea typeface="Roboto"/>
                <a:cs typeface="Roboto"/>
                <a:sym typeface="Roboto"/>
              </a:rPr>
              <a:t>Universidad de La Habana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